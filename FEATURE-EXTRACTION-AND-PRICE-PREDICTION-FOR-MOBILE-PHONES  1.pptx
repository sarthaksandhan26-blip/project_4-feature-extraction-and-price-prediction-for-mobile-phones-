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Georgia" panose="02040502050405020303" pitchFamily="18" charset="0"/>
      <p:regular r:id="rId13"/>
      <p:bold r:id="rId14"/>
      <p:italic r:id="rId15"/>
      <p:boldItalic r:id="rId16"/>
    </p:embeddedFont>
    <p:embeddedFont>
      <p:font typeface="Platypi Medium" panose="020B0604020202020204" charset="0"/>
      <p:regular r:id="rId17"/>
    </p:embeddedFont>
    <p:embeddedFont>
      <p:font typeface="Source Serif 4" panose="020B0604020202020204" charset="0"/>
      <p:regular r:id="rId18"/>
    </p:embeddedFont>
    <p:embeddedFont>
      <p:font typeface="Source Serif 4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678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814" y="144566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FEATURE EXTRACTION AND PRICE PREDICTION FOR MOBILE PHONES</a:t>
            </a:r>
            <a:endParaRPr lang="en-US" sz="3700" b="1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41228" y="264132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Data-Driven Mobile Pricing Using Machine Learning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938091"/>
            <a:ext cx="10868745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Presented By: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Sarthak Sandhan </a:t>
            </a:r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University Name: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Sanjivani University</a:t>
            </a:r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Date: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25 August 2026  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Project Domain: </a:t>
            </a: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Data Science | Machine Learning | Business Analytics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361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Problem &amp; Project Objective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27237"/>
            <a:ext cx="3622882" cy="491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4305" y="1798439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84305" y="2038251"/>
            <a:ext cx="3377223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A leading mobile-phone organization needs a data-driven pricing strategy that explains price variation across hardware and technical features.       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227237"/>
            <a:ext cx="3622882" cy="4914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07187" y="1798439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07187" y="2038251"/>
            <a:ext cx="3377223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Identify which product features most strongly influence price and estimate expected price to support pricing and marketing decisions.       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227237"/>
            <a:ext cx="3622882" cy="4914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30069" y="1798439"/>
            <a:ext cx="3377223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030069" y="2038251"/>
            <a:ext cx="3377223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Identify high-impact mobile features and build a reliable predictive model to estimate mobile-phone prices.       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61475" y="2767905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2620" y="2901057"/>
            <a:ext cx="7006454" cy="30214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064093" y="5349494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Business Decision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3064093" y="4650087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Price Prediction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3064093" y="3957744"/>
            <a:ext cx="1589523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Feature Analysis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3064093" y="3258336"/>
            <a:ext cx="1589523" cy="19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Mobile Features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61475" y="6012259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End-to-end flow: convert specs into actionable pricing guidance for product and marketing teams.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433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Dataset Overview</a:t>
            </a:r>
            <a:endParaRPr lang="en-US" sz="2600" b="1" dirty="0">
              <a:latin typeface="Georgia" panose="020405020504050203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22596" y="1259950"/>
            <a:ext cx="5055990" cy="45719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1769467"/>
            <a:ext cx="639210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Original Features</a:t>
            </a:r>
            <a:endParaRPr lang="en-US" sz="1300" b="1" dirty="0"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75" y="2061821"/>
            <a:ext cx="6392107" cy="2303264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Model</a:t>
            </a:r>
            <a:endParaRPr lang="en-US" sz="1000" dirty="0">
              <a:latin typeface="Georgia" panose="02040502050405020303" pitchFamily="18" charset="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Colour</a:t>
            </a:r>
            <a:endParaRPr lang="en-US" sz="1000" dirty="0">
              <a:latin typeface="Georgia" panose="02040502050405020303" pitchFamily="18" charset="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Memory</a:t>
            </a:r>
            <a:endParaRPr lang="en-US" sz="1000" dirty="0">
              <a:latin typeface="Georgia" panose="02040502050405020303" pitchFamily="18" charset="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RAM</a:t>
            </a:r>
            <a:endParaRPr lang="en-US" sz="1000" dirty="0">
              <a:latin typeface="Georgia" panose="02040502050405020303" pitchFamily="18" charset="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Battery Level</a:t>
            </a:r>
            <a:endParaRPr lang="en-US" sz="1000" dirty="0">
              <a:latin typeface="Georgia" panose="02040502050405020303" pitchFamily="18" charset="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Rear Camera</a:t>
            </a:r>
            <a:endParaRPr lang="en-US" sz="1000" dirty="0">
              <a:latin typeface="Georgia" panose="02040502050405020303" pitchFamily="18" charset="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Front Camera</a:t>
            </a:r>
            <a:endParaRPr lang="en-US" sz="1000" dirty="0">
              <a:latin typeface="Georgia" panose="02040502050405020303" pitchFamily="18" charset="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AI Lens</a:t>
            </a:r>
            <a:endParaRPr lang="en-US" sz="1000" dirty="0">
              <a:latin typeface="Georgia" panose="02040502050405020303" pitchFamily="18" charset="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Mobile Height</a:t>
            </a:r>
            <a:endParaRPr lang="en-US" sz="1000" dirty="0">
              <a:latin typeface="Georgia" panose="02040502050405020303" pitchFamily="18" charset="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Processor</a:t>
            </a:r>
            <a:endParaRPr lang="en-US" sz="1000" dirty="0">
              <a:latin typeface="Georgia" panose="02040502050405020303" pitchFamily="18" charset="0"/>
            </a:endParaRPr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dirty="0">
                <a:solidFill>
                  <a:srgbClr val="504C49"/>
                </a:solidFill>
                <a:latin typeface="Georgia" panose="02040502050405020303" pitchFamily="18" charset="0"/>
                <a:ea typeface="Source Serif 4" pitchFamily="34" charset="-122"/>
                <a:cs typeface="Source Serif 4" pitchFamily="34" charset="-120"/>
              </a:rPr>
              <a:t>Price</a:t>
            </a:r>
            <a:endParaRPr lang="en-US" sz="1000" dirty="0">
              <a:latin typeface="Georgia" panose="02040502050405020303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61475" y="4607520"/>
            <a:ext cx="3561170" cy="706735"/>
          </a:xfrm>
          <a:prstGeom prst="roundRect">
            <a:avLst>
              <a:gd name="adj" fmla="val 2808"/>
            </a:avLst>
          </a:prstGeom>
          <a:solidFill>
            <a:srgbClr val="F9F7F7"/>
          </a:solidFill>
          <a:ln/>
        </p:spPr>
      </p:sp>
      <p:sp>
        <p:nvSpPr>
          <p:cNvPr id="9" name="Text 6"/>
          <p:cNvSpPr/>
          <p:nvPr/>
        </p:nvSpPr>
        <p:spPr>
          <a:xfrm>
            <a:off x="793730" y="4739779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Total Records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3730" y="5002014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541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15213" y="4607520"/>
            <a:ext cx="3561170" cy="706735"/>
          </a:xfrm>
          <a:prstGeom prst="roundRect">
            <a:avLst>
              <a:gd name="adj" fmla="val 2808"/>
            </a:avLst>
          </a:prstGeom>
          <a:solidFill>
            <a:srgbClr val="F9F7F7"/>
          </a:solidFill>
          <a:ln/>
        </p:spPr>
      </p:sp>
      <p:sp>
        <p:nvSpPr>
          <p:cNvPr id="12" name="Text 9"/>
          <p:cNvSpPr/>
          <p:nvPr/>
        </p:nvSpPr>
        <p:spPr>
          <a:xfrm>
            <a:off x="4447468" y="4739779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Original Columns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447468" y="5002014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11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68951" y="4607520"/>
            <a:ext cx="3561170" cy="706735"/>
          </a:xfrm>
          <a:prstGeom prst="roundRect">
            <a:avLst>
              <a:gd name="adj" fmla="val 2808"/>
            </a:avLst>
          </a:prstGeom>
          <a:solidFill>
            <a:srgbClr val="F9F7F7"/>
          </a:solidFill>
          <a:ln/>
        </p:spPr>
      </p:sp>
      <p:sp>
        <p:nvSpPr>
          <p:cNvPr id="15" name="Text 12"/>
          <p:cNvSpPr/>
          <p:nvPr/>
        </p:nvSpPr>
        <p:spPr>
          <a:xfrm>
            <a:off x="8101207" y="4739779"/>
            <a:ext cx="329665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Domain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01207" y="5002014"/>
            <a:ext cx="329665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Mobile Phones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1475" y="5406827"/>
            <a:ext cx="10868646" cy="706735"/>
          </a:xfrm>
          <a:prstGeom prst="roundRect">
            <a:avLst>
              <a:gd name="adj" fmla="val 2808"/>
            </a:avLst>
          </a:prstGeom>
          <a:solidFill>
            <a:srgbClr val="F9F7F7"/>
          </a:solidFill>
          <a:ln/>
        </p:spPr>
      </p:sp>
      <p:sp>
        <p:nvSpPr>
          <p:cNvPr id="18" name="Text 15"/>
          <p:cNvSpPr/>
          <p:nvPr/>
        </p:nvSpPr>
        <p:spPr>
          <a:xfrm>
            <a:off x="793730" y="5539085"/>
            <a:ext cx="1060413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93730" y="5801320"/>
            <a:ext cx="10604135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Price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40C417F-919D-565C-7607-2EEC2C4BD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828" y="1213346"/>
            <a:ext cx="4899933" cy="31841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07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Data Preprocessing &amp; Feature Engineering</a:t>
            </a:r>
            <a:endParaRPr lang="en-US" sz="2600" b="1" dirty="0">
              <a:latin typeface="Georgia" panose="02040502050405020303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03943" y="125660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703943" y="1462286"/>
            <a:ext cx="5832528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6" name="Text 3"/>
          <p:cNvSpPr/>
          <p:nvPr/>
        </p:nvSpPr>
        <p:spPr>
          <a:xfrm>
            <a:off x="5703943" y="1566466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Step 1 — Data Loading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03943" y="1865709"/>
            <a:ext cx="58325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Loaded raw dataset (541 × 12). Verified schema and initial data types.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03943" y="2237482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03943" y="2443163"/>
            <a:ext cx="5832528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0" name="Text 7"/>
          <p:cNvSpPr/>
          <p:nvPr/>
        </p:nvSpPr>
        <p:spPr>
          <a:xfrm>
            <a:off x="5703943" y="2547342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Step 2 — Cleaning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703943" y="2846586"/>
            <a:ext cx="58325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Handled missing values, outliers, and inconsistent entries in categorical fields.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03943" y="3218359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03943" y="3424039"/>
            <a:ext cx="5832528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4" name="Text 11"/>
          <p:cNvSpPr/>
          <p:nvPr/>
        </p:nvSpPr>
        <p:spPr>
          <a:xfrm>
            <a:off x="5703943" y="3528219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Step 3 — Transformation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703943" y="3827462"/>
            <a:ext cx="5832528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Converted Model → Brand; Colour → encoded category; Processor → Processor Brand.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03943" y="419923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Light" pitchFamily="34" charset="0"/>
                <a:ea typeface="Platypi Light" pitchFamily="34" charset="-122"/>
                <a:cs typeface="Platypi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03943" y="4404916"/>
            <a:ext cx="5832528" cy="19050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5"/>
          <p:cNvSpPr/>
          <p:nvPr/>
        </p:nvSpPr>
        <p:spPr>
          <a:xfrm>
            <a:off x="5703943" y="4509095"/>
            <a:ext cx="583252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Step 4 — Derived Features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703943" y="4808339"/>
            <a:ext cx="5832528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Engineered: Price Segment, Total Camera MP, Brand, Processor Brand, Battery per GB, Memory per GB, Gaming/Camera/Performance/Budget flags.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03943" y="5404743"/>
            <a:ext cx="5832528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703943" y="5561013"/>
            <a:ext cx="5832528" cy="592733"/>
          </a:xfrm>
          <a:prstGeom prst="roundRect">
            <a:avLst>
              <a:gd name="adj" fmla="val 3348"/>
            </a:avLst>
          </a:prstGeom>
          <a:solidFill>
            <a:srgbClr val="F3E3D8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199" y="5704185"/>
            <a:ext cx="165294" cy="13225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33748" y="5677396"/>
            <a:ext cx="527046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Pipeline: Raw Dataset → Cleaning → Encoding → Feature Engineering → Analysis Dataset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997EEE0-9A5B-00F9-1F77-14296A17A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46" y="1955700"/>
            <a:ext cx="5088793" cy="35539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5168" y="12440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Univariate Analysis — Price &amp; Brand</a:t>
            </a:r>
            <a:endParaRPr lang="en-US" sz="3700" b="1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2892623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Price distribution: concentrated in lower-to-mid ranges and clearly right-skewed. Boxplot: most phones cluster at lower prices; several high-price outliers up to ~₹80,000.   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757315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4113411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Brand Counts (Top &amp; Tail)</a:t>
            </a:r>
            <a:endParaRPr lang="en-US" sz="1850" b="1" dirty="0">
              <a:latin typeface="Georgia" panose="02040502050405020303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1475" y="4692154"/>
            <a:ext cx="1147833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Key insight: </a:t>
            </a:r>
            <a:r>
              <a:rPr lang="en-US" sz="11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realme</a:t>
            </a: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dominates the dataset (98 records); several brands have very small representation.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64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Bivariate &amp; Multivariate Analysis</a:t>
            </a:r>
            <a:endParaRPr lang="en-US" sz="2750" b="1" dirty="0">
              <a:latin typeface="Georgia" panose="020405020504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234281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Dashboard: analyze numerical features vs Price and categorical price comparisons. (Large charts for presentation clarity.)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61475" y="5490170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Numerical features analyzed: RAM, Memory, Battery Level, Mobile Height, Total Camera MP, Memory per GB, Battery per GB.   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661475" y="5808166"/>
            <a:ext cx="10868745" cy="471190"/>
          </a:xfrm>
          <a:prstGeom prst="roundRect">
            <a:avLst>
              <a:gd name="adj" fmla="val 4513"/>
            </a:avLst>
          </a:prstGeom>
          <a:solidFill>
            <a:srgbClr val="F3E3D8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5965527"/>
            <a:ext cx="177200" cy="1416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22037" y="5949851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Where correlation values are required: insert actual results from notebook → [Insert Actual Correlation Result]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4334ECF-6562-5CD5-0D83-7BD95AA7C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552277"/>
            <a:ext cx="7295744" cy="37022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800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Feature Extraction &amp; Selection</a:t>
            </a:r>
            <a:endParaRPr lang="en-US" sz="2400" b="1" dirty="0">
              <a:latin typeface="Georgia" panose="0204050205040502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39" y="1096597"/>
            <a:ext cx="8590099" cy="34440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15232" y="2735749"/>
            <a:ext cx="1460364" cy="19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Original Features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058727" y="2619943"/>
            <a:ext cx="1460363" cy="397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EDA &amp; Visualization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686980" y="2740848"/>
            <a:ext cx="1460363" cy="198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Feature Selection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61475" y="4775498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Techniques used: correlation analysis, statistical tests, visualization, model-based importance, and dimensionality reduction where appropriate.   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61475" y="5058073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61475" y="5221188"/>
            <a:ext cx="108687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Most Influential Features</a:t>
            </a:r>
            <a:endParaRPr lang="en-US" sz="1200" b="1" dirty="0">
              <a:latin typeface="Georgia" panose="02040502050405020303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61475" y="5532934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[Insert Final Top Features from Model]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1475" y="5784850"/>
            <a:ext cx="10868745" cy="375047"/>
          </a:xfrm>
          <a:prstGeom prst="roundRect">
            <a:avLst>
              <a:gd name="adj" fmla="val 4914"/>
            </a:avLst>
          </a:prstGeom>
          <a:solidFill>
            <a:srgbClr val="F3E3D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05" y="5902027"/>
            <a:ext cx="153488" cy="12283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0622" y="5895280"/>
            <a:ext cx="10956353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 not finalize ranking until model importance values are computed: placeholders used per project brief.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273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Machine Learning Model &amp; Evaluation</a:t>
            </a:r>
            <a:endParaRPr lang="en-US" sz="2750" b="1" dirty="0">
              <a:latin typeface="Georgia" panose="0204050205040502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4399"/>
            <a:ext cx="354401" cy="3544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871663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61475" y="2199382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Baseline, interpretable model for continuous price prediction.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10445"/>
            <a:ext cx="354401" cy="3544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3097709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61475" y="3425428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Captures non-linear feature interactions; easy to visualize.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836491"/>
            <a:ext cx="354401" cy="3544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323755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61475" y="4651474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Ensemble baseline for stability and feature importance.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062537"/>
            <a:ext cx="354401" cy="3544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5549801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Gradient Boosting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61475" y="5877520"/>
            <a:ext cx="5261439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Often best predictive performance on tabular data.</a:t>
            </a:r>
            <a:endParaRPr lang="en-US" sz="1100" dirty="0"/>
          </a:p>
        </p:txBody>
      </p:sp>
      <p:sp>
        <p:nvSpPr>
          <p:cNvPr id="16" name="Shape 9"/>
          <p:cNvSpPr/>
          <p:nvPr/>
        </p:nvSpPr>
        <p:spPr>
          <a:xfrm>
            <a:off x="5922914" y="2057102"/>
            <a:ext cx="5261439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17" name="Text 10"/>
          <p:cNvSpPr/>
          <p:nvPr/>
        </p:nvSpPr>
        <p:spPr>
          <a:xfrm>
            <a:off x="6032854" y="2287092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Evaluation Metrics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032854" y="2619597"/>
            <a:ext cx="5261439" cy="669727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 — Mean Absolute Error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RMSE — Root Mean Squared Error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R² — Coefficient of Determination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6032853" y="3511014"/>
            <a:ext cx="5261439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Best Model: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[Insert Actual Model]</a:t>
            </a:r>
            <a:endParaRPr lang="en-US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MAE: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[Insert Actual MAE] · </a:t>
            </a: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RMSE: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[Insert Actual RMSE] · </a:t>
            </a:r>
            <a:r>
              <a:rPr lang="en-US" sz="11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R²:</a:t>
            </a: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[Insert Actual R²]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032852" y="4366885"/>
            <a:ext cx="5261439" cy="460573"/>
          </a:xfrm>
          <a:prstGeom prst="roundRect">
            <a:avLst>
              <a:gd name="adj" fmla="val 4617"/>
            </a:avLst>
          </a:prstGeom>
          <a:solidFill>
            <a:srgbClr val="F3E3D8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6232" y="4549545"/>
            <a:ext cx="177200" cy="1416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16812" y="4525748"/>
            <a:ext cx="526878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 not invent performance numbers — use actual notebook outputs.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35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Feature Importance &amp; Business Insights</a:t>
            </a:r>
            <a:endParaRPr lang="en-US" sz="2950" b="1" dirty="0">
              <a:latin typeface="Georgia" panose="02040502050405020303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72226" y="1431230"/>
            <a:ext cx="3564245" cy="1312664"/>
          </a:xfrm>
          <a:prstGeom prst="roundRect">
            <a:avLst>
              <a:gd name="adj" fmla="val 1728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8123431" y="1582440"/>
            <a:ext cx="326183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Interpretation</a:t>
            </a:r>
            <a:endParaRPr lang="en-US" sz="1450" b="1" dirty="0">
              <a:latin typeface="Georgia" panose="02040502050405020303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23431" y="1939627"/>
            <a:ext cx="3261834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High-importance features have greatest influence on predicted price; low-importance features contribute less.           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972226" y="2864842"/>
            <a:ext cx="3564245" cy="2527895"/>
          </a:xfrm>
          <a:prstGeom prst="roundRect">
            <a:avLst>
              <a:gd name="adj" fmla="val 897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8123431" y="3016052"/>
            <a:ext cx="326183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Business Applications</a:t>
            </a:r>
            <a:endParaRPr lang="en-US" sz="1450" b="1" dirty="0">
              <a:latin typeface="Georgia" panose="02040502050405020303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123431" y="3373239"/>
            <a:ext cx="3261834" cy="1868289"/>
          </a:xfrm>
          <a:prstGeom prst="rect">
            <a:avLst/>
          </a:prstGeom>
          <a:noFill/>
          <a:ln/>
        </p:spPr>
        <p:txBody>
          <a:bodyPr wrap="square" lIns="0" tIns="60486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Pricing Strategy — emphasize high-impact specs when setting price.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 Positioning — define premium vs value models by specs.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Marketing — highlight influential features in campaigns.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Decision Support — use model predictions for price validation.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72226" y="5566569"/>
            <a:ext cx="3564245" cy="1905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972226" y="5759450"/>
            <a:ext cx="3564245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Feature importance values: [Insert Actual Importance values from model]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2DDE75-AA97-EF80-5785-F0F2D0D97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89" y="2266156"/>
            <a:ext cx="7260579" cy="28273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601"/>
            <a:ext cx="10868745" cy="317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01B18"/>
                </a:solidFill>
                <a:latin typeface="Georgia" panose="02040502050405020303" pitchFamily="18" charset="0"/>
                <a:ea typeface="Platypi Medium" pitchFamily="34" charset="-122"/>
                <a:cs typeface="Platypi Medium" pitchFamily="34" charset="-120"/>
              </a:rPr>
              <a:t>Recommendations, Conclusion &amp; Deliverables</a:t>
            </a:r>
            <a:endParaRPr lang="en-US" sz="2000" b="1" dirty="0">
              <a:latin typeface="Georgia" panose="02040502050405020303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948134"/>
            <a:ext cx="5406989" cy="838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03902" y="1024434"/>
            <a:ext cx="122036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775871" y="1355030"/>
            <a:ext cx="517819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01 — Identify High-Impact Features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5871" y="1546820"/>
            <a:ext cx="5178196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Prioritize features confirmed by model importance to guide pricing and specs decisions.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3231" y="948134"/>
            <a:ext cx="5406989" cy="838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65658" y="1024434"/>
            <a:ext cx="122036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237628" y="1355030"/>
            <a:ext cx="517819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02 — Improve Pricing Decisions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237628" y="1546820"/>
            <a:ext cx="5178196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 the predictive model as a decision-support tool for new and existing SKUs.</a:t>
            </a:r>
            <a:endParaRPr lang="en-US" sz="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41103"/>
            <a:ext cx="5406989" cy="838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303902" y="1917402"/>
            <a:ext cx="122036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775871" y="2247999"/>
            <a:ext cx="517819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03 — Strengthen Product Positioning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775871" y="2439789"/>
            <a:ext cx="5178196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Use feature–price relationships to create meaningful market segments and SKUs.</a:t>
            </a:r>
            <a:endParaRPr lang="en-US" sz="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3231" y="1841103"/>
            <a:ext cx="5406989" cy="8382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65658" y="1917402"/>
            <a:ext cx="122036" cy="1525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6237628" y="2247999"/>
            <a:ext cx="517819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04 — Support Marketing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237628" y="2439789"/>
            <a:ext cx="5178196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Highlight influential specs in promotional material to increase perceived value.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661475" y="2766318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846206" y="5205066"/>
            <a:ext cx="3140592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Project Report / Presentation</a:t>
            </a:r>
            <a:endParaRPr lang="en-US" sz="800" dirty="0"/>
          </a:p>
        </p:txBody>
      </p:sp>
      <p:sp>
        <p:nvSpPr>
          <p:cNvPr id="24" name="Text 16"/>
          <p:cNvSpPr/>
          <p:nvPr/>
        </p:nvSpPr>
        <p:spPr>
          <a:xfrm>
            <a:off x="5260811" y="5213553"/>
            <a:ext cx="3140592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Python Code </a:t>
            </a:r>
            <a:endParaRPr lang="en-US" sz="800" dirty="0"/>
          </a:p>
        </p:txBody>
      </p:sp>
      <p:sp>
        <p:nvSpPr>
          <p:cNvPr id="26" name="Text 17"/>
          <p:cNvSpPr/>
          <p:nvPr/>
        </p:nvSpPr>
        <p:spPr>
          <a:xfrm>
            <a:off x="8275232" y="5161559"/>
            <a:ext cx="3140592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Visualizations &amp; Feature Importance</a:t>
            </a:r>
            <a:endParaRPr lang="en-US" sz="800" dirty="0"/>
          </a:p>
        </p:txBody>
      </p:sp>
      <p:sp>
        <p:nvSpPr>
          <p:cNvPr id="29" name="Shape 19"/>
          <p:cNvSpPr/>
          <p:nvPr/>
        </p:nvSpPr>
        <p:spPr>
          <a:xfrm>
            <a:off x="634091" y="5429896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504C49">
              <a:alpha val="50000"/>
            </a:srgbClr>
          </a:solidFill>
          <a:ln/>
        </p:spPr>
      </p:sp>
      <p:sp>
        <p:nvSpPr>
          <p:cNvPr id="30" name="Text 20"/>
          <p:cNvSpPr/>
          <p:nvPr/>
        </p:nvSpPr>
        <p:spPr>
          <a:xfrm>
            <a:off x="661475" y="5584129"/>
            <a:ext cx="10868745" cy="57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201B18"/>
                </a:solidFill>
                <a:latin typeface="Georgia" panose="02040502050405020303" pitchFamily="18" charset="0"/>
                <a:cs typeface="Platypi Medium" pitchFamily="34" charset="-120"/>
              </a:rPr>
              <a:t>Thankyou and Question</a:t>
            </a:r>
            <a:endParaRPr lang="en-US" sz="2750" b="1" dirty="0">
              <a:latin typeface="Georgia" panose="02040502050405020303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0AE793F-4071-5A19-895A-69C27447C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69" y="2866033"/>
            <a:ext cx="2296971" cy="223931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6073696-E0E5-C9A1-DE4D-F57003684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6092" y="2902833"/>
            <a:ext cx="2831178" cy="220251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F3A76C6-9C35-B680-D0AE-B04BA924E6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7292" y="2991629"/>
            <a:ext cx="4472928" cy="21137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753</Words>
  <Application>Microsoft Office PowerPoint</Application>
  <PresentationFormat>Widescreen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Platypi Medium</vt:lpstr>
      <vt:lpstr>Arial</vt:lpstr>
      <vt:lpstr>Georgia</vt:lpstr>
      <vt:lpstr>Source Serif 4</vt:lpstr>
      <vt:lpstr>Platypi Light</vt:lpstr>
      <vt:lpstr>Source Serif 4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Sarthak Sandhan</dc:creator>
  <cp:lastModifiedBy>Sarthak Sandhan</cp:lastModifiedBy>
  <cp:revision>2</cp:revision>
  <dcterms:created xsi:type="dcterms:W3CDTF">2026-08-25T12:22:26Z</dcterms:created>
  <dcterms:modified xsi:type="dcterms:W3CDTF">2026-08-25T13:12:23Z</dcterms:modified>
</cp:coreProperties>
</file>